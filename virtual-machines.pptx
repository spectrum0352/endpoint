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8" r:id="rId10"/>
    <p:sldId id="276" r:id="rId11"/>
    <p:sldId id="27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30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07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09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8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48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9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03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14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59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2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45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E3F3C-4EC7-4712-ACD0-53F5C0423A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D2472-8A0C-4E65-9889-35CFF818F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94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51B4-5C7C-A7DA-4442-D6D0ED79E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Virtual machines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BD5AE-6353-7E2C-1A61-72156FF3E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41564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E81F-623F-6320-F27B-CB4F9CB9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0ECE5-86C9-375F-CEC0-7E64CCA9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b="1" dirty="0"/>
              <a:t>Benefits: </a:t>
            </a:r>
          </a:p>
          <a:p>
            <a:pPr lvl="0"/>
            <a:r>
              <a:rPr lang="en-IN" b="1" dirty="0"/>
              <a:t>Deployment Options: </a:t>
            </a:r>
          </a:p>
          <a:p>
            <a:pPr lvl="0"/>
            <a:r>
              <a:rPr lang="en-IN" b="1" dirty="0"/>
              <a:t>Components: </a:t>
            </a:r>
          </a:p>
          <a:p>
            <a:pPr lvl="0"/>
            <a:r>
              <a:rPr lang="en-IN" b="1" dirty="0"/>
              <a:t>Management Tools: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8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7E81-7BC5-025A-2CB9-1FFC0E26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20BC-9099-AE86-0266-BDACC63F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Remote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F4C2-B4EA-4E92-5663-D8B1A830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IN" sz="1600" dirty="0"/>
          </a:p>
          <a:p>
            <a:pPr>
              <a:lnSpc>
                <a:spcPct val="10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2091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D100-519C-7A4A-D432-DE42B85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9F34-41DD-94CD-F185-815E5006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7B8C-A505-E64B-7210-5BB0DADAF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55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77AC-4E37-436D-8F7C-9D463207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A246-ADAC-7F03-97A5-9D54F195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>
                <a:latin typeface="Segoe UI" panose="020B0502040204020203" pitchFamily="34" charset="0"/>
                <a:cs typeface="Segoe UI" panose="020B0502040204020203" pitchFamily="34" charset="0"/>
              </a:rPr>
              <a:t>Endpoint security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D01F-EE97-6AA7-2B6F-C80B36B82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98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26A3-C9A2-2A71-A63D-AB8460AD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32ED-F9CD-B963-B0E2-ECA08D84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D00C-D8B8-D493-D959-CC9D107DE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61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1BFC-6AE5-E174-8285-A7746B1B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F165-451F-0CC3-B066-6452FFCA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Data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6C57-C491-B991-BE46-F93E2DC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12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01D25-2C31-AD40-084D-0E00DD75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8666-CE35-CE61-7E46-21E04F61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VM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6935-ADA1-06EE-A280-1EAE23059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9433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0FFF-719B-F5EE-9420-526B1044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2E19-EC92-10B5-28AC-3CAB79CB9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FE8D-9DBB-AFD4-F258-C824E07A4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pPr lvl="1"/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65564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186D-5D47-190A-C91F-45E4F174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69DC-42AF-408E-C355-14199392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04" y="68281"/>
            <a:ext cx="11768191" cy="52139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Logs to collect from Linux 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14E5-848A-FA36-A2AD-BD31ADF7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6856"/>
            <a:ext cx="4288607" cy="422853"/>
          </a:xfrm>
          <a:prstGeom prst="roundRect">
            <a:avLst/>
          </a:prstGeom>
          <a:solidFill>
            <a:schemeClr val="accent4"/>
          </a:solidFill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chemeClr val="bg1"/>
                </a:solidFill>
              </a:rPr>
              <a:t>Syslog configuration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D809E0-B2D1-B0D1-94B9-E243302591A8}"/>
              </a:ext>
            </a:extLst>
          </p:cNvPr>
          <p:cNvSpPr txBox="1">
            <a:spLocks/>
          </p:cNvSpPr>
          <p:nvPr/>
        </p:nvSpPr>
        <p:spPr>
          <a:xfrm>
            <a:off x="747015" y="3668160"/>
            <a:ext cx="2370762" cy="392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FFC000"/>
                </a:solidFill>
              </a:rPr>
              <a:t>Medium importance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9AD8D9-D3AD-08DB-89E7-39C8A9764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40803"/>
              </p:ext>
            </p:extLst>
          </p:nvPr>
        </p:nvGraphicFramePr>
        <p:xfrm>
          <a:off x="495725" y="1348700"/>
          <a:ext cx="3652109" cy="2194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06860">
                  <a:extLst>
                    <a:ext uri="{9D8B030D-6E8A-4147-A177-3AD203B41FA5}">
                      <a16:colId xmlns:a16="http://schemas.microsoft.com/office/drawing/2014/main" val="2034703979"/>
                    </a:ext>
                  </a:extLst>
                </a:gridCol>
                <a:gridCol w="2445249">
                  <a:extLst>
                    <a:ext uri="{9D8B030D-6E8A-4147-A177-3AD203B41FA5}">
                      <a16:colId xmlns:a16="http://schemas.microsoft.com/office/drawing/2014/main" val="2498868020"/>
                    </a:ext>
                  </a:extLst>
                </a:gridCol>
              </a:tblGrid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3469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Warning and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5290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Authpriv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Warning and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05470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Daemon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4906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Kern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96885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Syslog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590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B2399D-4AF1-3072-40E7-1D340B639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13638"/>
              </p:ext>
            </p:extLst>
          </p:nvPr>
        </p:nvGraphicFramePr>
        <p:xfrm>
          <a:off x="495725" y="3985985"/>
          <a:ext cx="3652109" cy="1097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860">
                  <a:extLst>
                    <a:ext uri="{9D8B030D-6E8A-4147-A177-3AD203B41FA5}">
                      <a16:colId xmlns:a16="http://schemas.microsoft.com/office/drawing/2014/main" val="2034703979"/>
                    </a:ext>
                  </a:extLst>
                </a:gridCol>
                <a:gridCol w="2445249">
                  <a:extLst>
                    <a:ext uri="{9D8B030D-6E8A-4147-A177-3AD203B41FA5}">
                      <a16:colId xmlns:a16="http://schemas.microsoft.com/office/drawing/2014/main" val="2498868020"/>
                    </a:ext>
                  </a:extLst>
                </a:gridCol>
              </a:tblGrid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3469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Cron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5290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0547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17348F-454C-F05C-8329-CF809DE55F69}"/>
              </a:ext>
            </a:extLst>
          </p:cNvPr>
          <p:cNvSpPr txBox="1">
            <a:spLocks/>
          </p:cNvSpPr>
          <p:nvPr/>
        </p:nvSpPr>
        <p:spPr>
          <a:xfrm>
            <a:off x="1050532" y="985999"/>
            <a:ext cx="2370762" cy="392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C00000"/>
                </a:solidFill>
              </a:rPr>
              <a:t>High importance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F0ACAC-04B8-A076-0CBF-8CC100FFEB3E}"/>
              </a:ext>
            </a:extLst>
          </p:cNvPr>
          <p:cNvSpPr txBox="1">
            <a:spLocks/>
          </p:cNvSpPr>
          <p:nvPr/>
        </p:nvSpPr>
        <p:spPr>
          <a:xfrm>
            <a:off x="637856" y="5289003"/>
            <a:ext cx="3009470" cy="52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chemeClr val="accent1"/>
                </a:solidFill>
              </a:rPr>
              <a:t>Low importance (Avoid)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2D28635-9970-AFB4-9900-D84060080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51607"/>
              </p:ext>
            </p:extLst>
          </p:nvPr>
        </p:nvGraphicFramePr>
        <p:xfrm>
          <a:off x="395804" y="5608143"/>
          <a:ext cx="3851949" cy="1097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72898">
                  <a:extLst>
                    <a:ext uri="{9D8B030D-6E8A-4147-A177-3AD203B41FA5}">
                      <a16:colId xmlns:a16="http://schemas.microsoft.com/office/drawing/2014/main" val="2034703979"/>
                    </a:ext>
                  </a:extLst>
                </a:gridCol>
                <a:gridCol w="2579051">
                  <a:extLst>
                    <a:ext uri="{9D8B030D-6E8A-4147-A177-3AD203B41FA5}">
                      <a16:colId xmlns:a16="http://schemas.microsoft.com/office/drawing/2014/main" val="2498868020"/>
                    </a:ext>
                  </a:extLst>
                </a:gridCol>
              </a:tblGrid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3469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5290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Local 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 App specific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05470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7B289-7E78-C51C-0310-C9F53E06C35E}"/>
              </a:ext>
            </a:extLst>
          </p:cNvPr>
          <p:cNvSpPr txBox="1">
            <a:spLocks/>
          </p:cNvSpPr>
          <p:nvPr/>
        </p:nvSpPr>
        <p:spPr>
          <a:xfrm>
            <a:off x="7128553" y="563146"/>
            <a:ext cx="4288607" cy="422853"/>
          </a:xfrm>
          <a:prstGeom prst="round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b="1" dirty="0">
                <a:solidFill>
                  <a:schemeClr val="bg1"/>
                </a:solidFill>
              </a:rPr>
              <a:t>Linux Performance Metrics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1CF0EF-A0EE-951D-6CE2-DB424D114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21506"/>
              </p:ext>
            </p:extLst>
          </p:nvPr>
        </p:nvGraphicFramePr>
        <p:xfrm>
          <a:off x="7128553" y="1378130"/>
          <a:ext cx="4012915" cy="2194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87366">
                  <a:extLst>
                    <a:ext uri="{9D8B030D-6E8A-4147-A177-3AD203B41FA5}">
                      <a16:colId xmlns:a16="http://schemas.microsoft.com/office/drawing/2014/main" val="2034703979"/>
                    </a:ext>
                  </a:extLst>
                </a:gridCol>
                <a:gridCol w="1925549">
                  <a:extLst>
                    <a:ext uri="{9D8B030D-6E8A-4147-A177-3AD203B41FA5}">
                      <a16:colId xmlns:a16="http://schemas.microsoft.com/office/drawing/2014/main" val="2498868020"/>
                    </a:ext>
                  </a:extLst>
                </a:gridCol>
              </a:tblGrid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Importance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3469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CPU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5290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Memory used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05470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Disk free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49067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Load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96885"/>
                  </a:ext>
                </a:extLst>
              </a:tr>
              <a:tr h="307052">
                <a:tc>
                  <a:txBody>
                    <a:bodyPr/>
                    <a:lstStyle/>
                    <a:p>
                      <a:r>
                        <a:rPr lang="en-IN" dirty="0"/>
                        <a:t>Network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5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69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A12A-D48B-208A-7565-D56A2202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81F4-C34A-80F6-043A-8C01646E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Alerting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3E709-5A54-F159-E539-86FBD8AF3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316130" cy="5876425"/>
          </a:xfrm>
        </p:spPr>
        <p:txBody>
          <a:bodyPr numCol="2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88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368A-5F4A-CF9B-9393-E61AAB1C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C6EB-0179-B193-736E-8D423818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0B0A-9F99-0433-FFE5-33EB5280B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31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6F74-A132-9976-56CD-C43E9D55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44B7-79B3-50FB-4D60-6D2AD5DE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E90FA-7217-6C93-8299-302F28C2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b="1" dirty="0"/>
              <a:t>Storage Options:</a:t>
            </a:r>
            <a:endParaRPr lang="en-IN" dirty="0"/>
          </a:p>
          <a:p>
            <a:pPr lvl="1"/>
            <a:r>
              <a:rPr lang="en-IN" dirty="0"/>
              <a:t>Azure Disks (Persistent Volumes)</a:t>
            </a:r>
          </a:p>
          <a:p>
            <a:pPr lvl="1"/>
            <a:r>
              <a:rPr lang="en-IN" dirty="0"/>
              <a:t>Azure Files (Shared Volumes)</a:t>
            </a:r>
          </a:p>
          <a:p>
            <a:pPr lvl="1"/>
            <a:r>
              <a:rPr lang="en-IN" dirty="0"/>
              <a:t>Blob storage (via CSI driver)</a:t>
            </a:r>
          </a:p>
          <a:p>
            <a:pPr lvl="0"/>
            <a:r>
              <a:rPr lang="en-IN" b="1" dirty="0"/>
              <a:t>Disk Attachment:</a:t>
            </a:r>
            <a:br>
              <a:rPr lang="en-IN" dirty="0"/>
            </a:br>
            <a:r>
              <a:rPr lang="en-IN" dirty="0"/>
              <a:t>Configure via persistent volume claims (PVCs) and Kubernetes storage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82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036D-D81B-2FAC-24B7-C03F3F60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E20B-8899-F587-9B94-D6E9262B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Scalability and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EC421-07F2-D3CE-73B1-FCA5C4756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59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FB8C-F7E6-8715-1352-B0DE82D2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E663-2385-B258-A4C5-11B42DA1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QnA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4EB5-1CE7-37CD-3C46-04B9AF74F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833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B168-99F6-DA2B-4E5D-31883523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4D2B-0AB1-C486-781A-4EA2E743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Unauthorized Access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22B2-4E0E-29A9-0B24-2AC8227F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dirty="0"/>
              <a:t>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52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ED376-182C-58C5-CCFF-D67D55EB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7E8E-6BC1-C4D7-6AC1-581EE7AE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CAF2-12EF-3F2F-1E90-D23FD23C6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r>
              <a:rPr lang="en-IN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7571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4895-7728-A315-B049-2B70C1CC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E8D8-DBA3-5856-CC4A-C1281813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CD92-1CCF-2848-DDA8-3B57528F1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b="1" dirty="0"/>
              <a:t>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2BE4-589C-632A-9CA2-9A2801C9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472D-D543-05CD-E8CA-9706B95C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88882-3686-DEBA-7F83-658CC60A0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b="1" dirty="0"/>
              <a:t>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04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08CA-419D-0027-974A-63B7A5F9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4DB0-4EA6-B05D-7102-F0FB482B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C9132-0CB6-A5B5-7ED9-28CB7728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/>
          <a:lstStyle/>
          <a:p>
            <a:pPr lvl="0"/>
            <a:r>
              <a:rPr lang="en-IN" b="1" dirty="0"/>
              <a:t>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429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283D-1309-B220-402C-3E400556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C33B-5749-415C-78DB-D3DB4B97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6747F-291E-66BA-B96C-83BD7DBC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r>
              <a:rPr lang="en-IN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05575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E2EF-9CDD-48B1-ABDB-83BBF84D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A12B-E14A-02BA-9946-E23B0078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936D-34D3-277A-5397-D988255E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07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EFBD-62C3-77A8-8EF7-E04F1F8F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11C9-405C-AF83-2208-8E8C9EAB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6" y="159642"/>
            <a:ext cx="11768191" cy="521396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3511-BB2C-A4D2-E7D2-754C8D8F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5" y="821932"/>
            <a:ext cx="11768191" cy="587642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68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583</TotalTime>
  <Words>159</Words>
  <Application>Microsoft Office PowerPoint</Application>
  <PresentationFormat>Widescreen</PresentationFormat>
  <Paragraphs>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Segoe UI</vt:lpstr>
      <vt:lpstr>Office Theme</vt:lpstr>
      <vt:lpstr>Virtual machines</vt:lpstr>
      <vt:lpstr>Concepts</vt:lpstr>
      <vt:lpstr>Remote access</vt:lpstr>
      <vt:lpstr>Network</vt:lpstr>
      <vt:lpstr>Endpoint security</vt:lpstr>
      <vt:lpstr>Monitoring</vt:lpstr>
      <vt:lpstr>Data Security</vt:lpstr>
      <vt:lpstr>VM config</vt:lpstr>
      <vt:lpstr>PowerPoint Presentation</vt:lpstr>
      <vt:lpstr>Logs to collect from Linux VM</vt:lpstr>
      <vt:lpstr>Alerting Design Pattern</vt:lpstr>
      <vt:lpstr>Networking</vt:lpstr>
      <vt:lpstr>Storage</vt:lpstr>
      <vt:lpstr>Scalability and Availability</vt:lpstr>
      <vt:lpstr>QnA</vt:lpstr>
      <vt:lpstr>Unauthorized Access </vt:lpstr>
      <vt:lpstr>S</vt:lpstr>
      <vt:lpstr>S</vt:lpstr>
      <vt:lpstr>S</vt:lpstr>
      <vt:lpstr>S</vt:lpstr>
      <vt:lpstr>S</vt:lpstr>
      <vt:lpstr>Backup</vt:lpstr>
      <vt:lpstr>Recovery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109</cp:revision>
  <dcterms:created xsi:type="dcterms:W3CDTF">2026-01-13T16:55:44Z</dcterms:created>
  <dcterms:modified xsi:type="dcterms:W3CDTF">2026-01-18T15:58:48Z</dcterms:modified>
</cp:coreProperties>
</file>