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F0C1E9-3FDA-41C1-96C0-6C2C30BB23FD}">
          <p14:sldIdLst>
            <p14:sldId id="256"/>
            <p14:sldId id="266"/>
          </p14:sldIdLst>
        </p14:section>
        <p14:section name="Autologon" id="{F0B476C5-4706-49CE-B36B-7B4B141F0E41}">
          <p14:sldIdLst>
            <p14:sldId id="257"/>
            <p14:sldId id="258"/>
          </p14:sldIdLst>
        </p14:section>
        <p14:section name="Security Support Provider API" id="{00D52CAE-3271-4783-935C-906D2F0A4507}">
          <p14:sldIdLst>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78" d="100"/>
          <a:sy n="78"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154A2-A066-1C4E-D079-140779C34A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7E568E-019E-325C-23F6-E3E2BAF111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67E8BC-8BE7-603D-4054-DAF0196884A1}"/>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C886553E-4E5D-0BBA-CE23-62C3C31796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82931-9810-94F0-8DBC-4FB78536D179}"/>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209423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F0A2B-9434-2973-DCFA-EA8F4FD2BC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748FC8-292C-8BC6-E263-BD325FDE8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3794EA-0C2B-FDF8-7540-E1966EF92015}"/>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9AB78EC1-36A8-68C3-1808-DF7C12E12C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4A324E-96F3-DCC8-C70F-902D4D595668}"/>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05591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3559-60E5-4BFF-87FD-78352E987C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C87A94-5B28-7192-CBFD-C049E0D15D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C906D9-6AC9-0FA6-0245-B28E258BB72F}"/>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AD516B67-7AF8-0212-06BD-0F651FA323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87EE2-7F77-F724-881E-0A428793EC7A}"/>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749683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A431-5ED7-4725-245D-48BF99177B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7B0330-95B3-A565-94C8-1232469B7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3EFCF4-7FE2-433B-8602-8FE4AB178B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058864-126A-31F2-08D5-F757A000F1A0}"/>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6" name="Footer Placeholder 5">
            <a:extLst>
              <a:ext uri="{FF2B5EF4-FFF2-40B4-BE49-F238E27FC236}">
                <a16:creationId xmlns:a16="http://schemas.microsoft.com/office/drawing/2014/main" id="{247BE24F-73F1-D60E-CA2A-15727F8331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5C41FA-4ABD-9C58-657E-AD2BB0909BD2}"/>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2270039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729C-4974-351D-3319-79DAC98975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322DD4-AB73-7933-9F66-78D19F9AB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439DF-4301-C05D-6156-66239E8FCD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1D31C9-16E7-462A-3DA4-6FA85F9457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D7441-AB0C-2064-AC5D-64D740748B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27416B-E59E-D38D-187B-60F76F122D4B}"/>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8" name="Footer Placeholder 7">
            <a:extLst>
              <a:ext uri="{FF2B5EF4-FFF2-40B4-BE49-F238E27FC236}">
                <a16:creationId xmlns:a16="http://schemas.microsoft.com/office/drawing/2014/main" id="{F26893D1-A301-8DF2-0C29-97ECE8E9B7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216D1E-E626-9619-DA41-9ADC7E96CD5D}"/>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57660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2AEF-F15A-D045-F882-284A927D74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49D848-A8BA-782D-E27F-1ACD624D458E}"/>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4" name="Footer Placeholder 3">
            <a:extLst>
              <a:ext uri="{FF2B5EF4-FFF2-40B4-BE49-F238E27FC236}">
                <a16:creationId xmlns:a16="http://schemas.microsoft.com/office/drawing/2014/main" id="{6DC2D0CD-CCF6-2E6A-520D-ADDDB17CFA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8DD8B9-27C5-B194-8773-992A3EDBCE28}"/>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564025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C7C467-FA74-6E29-0963-3B23FA0E1F05}"/>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3" name="Footer Placeholder 2">
            <a:extLst>
              <a:ext uri="{FF2B5EF4-FFF2-40B4-BE49-F238E27FC236}">
                <a16:creationId xmlns:a16="http://schemas.microsoft.com/office/drawing/2014/main" id="{B8D2F9D7-55DF-BD91-524A-04C06041D6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4A2D5C-9578-3F28-0624-DCA8051307BB}"/>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34765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935AB-6E77-35F0-6976-F9F31CEC9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55B28D-4178-126A-C911-076F0FF5D9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A8295A-A6AD-6A71-846D-7503CD9B7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521CE-BFCF-9AD8-9806-EC851D0FD3DD}"/>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6" name="Footer Placeholder 5">
            <a:extLst>
              <a:ext uri="{FF2B5EF4-FFF2-40B4-BE49-F238E27FC236}">
                <a16:creationId xmlns:a16="http://schemas.microsoft.com/office/drawing/2014/main" id="{DC3F7F3E-336C-BCA2-E2C7-10457377C1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2ED3F4-C566-3998-D952-B6E2358A61DF}"/>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3426224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AA1F-7658-CDC6-2719-3923D9BF85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EF3665-7737-6F07-9DBC-49C4A222A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763369-36A9-C886-127F-38FD339E2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92C26-D37F-0016-6152-06FE34656E0A}"/>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6" name="Footer Placeholder 5">
            <a:extLst>
              <a:ext uri="{FF2B5EF4-FFF2-40B4-BE49-F238E27FC236}">
                <a16:creationId xmlns:a16="http://schemas.microsoft.com/office/drawing/2014/main" id="{1F4BAC52-4FE7-65AD-7927-520A09363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C3018A-843B-303F-C42A-39143E109511}"/>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537203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FBECF-2DC7-3E28-433D-EC6B8A02E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68FC29-EA99-EA53-A167-54D7EA8052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927FA-8352-F83D-D949-510D4A23456A}"/>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B406ABA9-0DEB-15D1-0CF9-BFA94A3CD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C4C94-54C7-98C0-9177-A2E3EEFEE266}"/>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1888394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AEA42-929A-7A7B-79A4-81EE3AD152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9DF476-E59C-BC9C-3530-7EB0D609DF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7B56F5-B0F5-8D6A-1033-91C637DDBDBD}"/>
              </a:ext>
            </a:extLst>
          </p:cNvPr>
          <p:cNvSpPr>
            <a:spLocks noGrp="1"/>
          </p:cNvSpPr>
          <p:nvPr>
            <p:ph type="dt" sz="half" idx="10"/>
          </p:nvPr>
        </p:nvSpPr>
        <p:spPr/>
        <p:txBody>
          <a:body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10B89656-4666-5646-772B-E7624ACFF1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3E5C4-0EEA-FD78-3BF9-5668B1F4CE96}"/>
              </a:ext>
            </a:extLst>
          </p:cNvPr>
          <p:cNvSpPr>
            <a:spLocks noGrp="1"/>
          </p:cNvSpPr>
          <p:nvPr>
            <p:ph type="sldNum" sz="quarter" idx="12"/>
          </p:nvPr>
        </p:nvSpPr>
        <p:spPr/>
        <p:txBody>
          <a:bodyPr/>
          <a:lstStyle/>
          <a:p>
            <a:fld id="{2345004A-2D10-4A1E-8889-64F71C6726E5}" type="slidenum">
              <a:rPr lang="en-IN" smtClean="0"/>
              <a:t>‹#›</a:t>
            </a:fld>
            <a:endParaRPr lang="en-IN"/>
          </a:p>
        </p:txBody>
      </p:sp>
    </p:spTree>
    <p:extLst>
      <p:ext uri="{BB962C8B-B14F-4D97-AF65-F5344CB8AC3E}">
        <p14:creationId xmlns:p14="http://schemas.microsoft.com/office/powerpoint/2010/main" val="53391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E26F8F-FA29-23EC-74F8-48E9D033C5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4E2648-4E44-E798-7A30-9677F5768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48114-A39F-1954-9C24-20E973A0F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344BCF-C0D2-4594-AC58-E21CA0B4C91D}" type="datetimeFigureOut">
              <a:rPr lang="en-IN" smtClean="0"/>
              <a:t>02-04-2025</a:t>
            </a:fld>
            <a:endParaRPr lang="en-IN"/>
          </a:p>
        </p:txBody>
      </p:sp>
      <p:sp>
        <p:nvSpPr>
          <p:cNvPr id="5" name="Footer Placeholder 4">
            <a:extLst>
              <a:ext uri="{FF2B5EF4-FFF2-40B4-BE49-F238E27FC236}">
                <a16:creationId xmlns:a16="http://schemas.microsoft.com/office/drawing/2014/main" id="{5839FE30-F0BD-3825-39DC-D51706DD9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0569CC-D0B5-6FE9-3B50-AF846AADD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5004A-2D10-4A1E-8889-64F71C6726E5}" type="slidenum">
              <a:rPr lang="en-IN" smtClean="0"/>
              <a:t>‹#›</a:t>
            </a:fld>
            <a:endParaRPr lang="en-IN"/>
          </a:p>
        </p:txBody>
      </p:sp>
    </p:spTree>
    <p:extLst>
      <p:ext uri="{BB962C8B-B14F-4D97-AF65-F5344CB8AC3E}">
        <p14:creationId xmlns:p14="http://schemas.microsoft.com/office/powerpoint/2010/main" val="2930136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nirsoft.net/utils/network_password_recovery.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9CC2-35F6-3FA3-20EA-BF6C04070F55}"/>
              </a:ext>
            </a:extLst>
          </p:cNvPr>
          <p:cNvSpPr>
            <a:spLocks noGrp="1"/>
          </p:cNvSpPr>
          <p:nvPr>
            <p:ph type="ctrTitle"/>
          </p:nvPr>
        </p:nvSpPr>
        <p:spPr/>
        <p:txBody>
          <a:bodyPr/>
          <a:lstStyle/>
          <a:p>
            <a:r>
              <a:rPr lang="en-US" b="1" dirty="0">
                <a:latin typeface="Segoe UI" panose="020B0502040204020203" pitchFamily="34" charset="0"/>
                <a:cs typeface="Segoe UI" panose="020B0502040204020203" pitchFamily="34" charset="0"/>
              </a:rPr>
              <a:t>Windows</a:t>
            </a:r>
            <a:endParaRPr lang="en-IN" b="1"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1939098B-B63F-38D4-56FD-CED347D30F2C}"/>
              </a:ext>
            </a:extLst>
          </p:cNvPr>
          <p:cNvSpPr>
            <a:spLocks noGrp="1"/>
          </p:cNvSpPr>
          <p:nvPr>
            <p:ph type="subTitle" idx="1"/>
          </p:nvPr>
        </p:nvSpPr>
        <p:spPr/>
        <p:txBody>
          <a:bodyPr/>
          <a:lstStyle/>
          <a:p>
            <a:r>
              <a:rPr lang="en-US" dirty="0"/>
              <a:t>Penetration Testing</a:t>
            </a:r>
            <a:endParaRPr lang="en-IN" dirty="0"/>
          </a:p>
        </p:txBody>
      </p:sp>
    </p:spTree>
    <p:extLst>
      <p:ext uri="{BB962C8B-B14F-4D97-AF65-F5344CB8AC3E}">
        <p14:creationId xmlns:p14="http://schemas.microsoft.com/office/powerpoint/2010/main" val="4017629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FCD9-3B90-562A-4C9F-3F333198D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882F5-E7DE-E783-09C5-CC488D50E091}"/>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Authentication Methods in Win11 and Win2025</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7F7E3BCD-24C4-876D-0DA8-E9AA6BDD7D54}"/>
              </a:ext>
            </a:extLst>
          </p:cNvPr>
          <p:cNvSpPr>
            <a:spLocks noGrp="1"/>
          </p:cNvSpPr>
          <p:nvPr>
            <p:ph idx="1"/>
          </p:nvPr>
        </p:nvSpPr>
        <p:spPr>
          <a:xfrm>
            <a:off x="130276" y="737419"/>
            <a:ext cx="11914238" cy="5928852"/>
          </a:xfrm>
        </p:spPr>
        <p:txBody>
          <a:bodyPr>
            <a:normAutofit lnSpcReduction="10000"/>
          </a:bodyPr>
          <a:lstStyle/>
          <a:p>
            <a:pPr marL="0" indent="0">
              <a:buNone/>
            </a:pPr>
            <a:r>
              <a:rPr lang="en-US" sz="1800" dirty="0">
                <a:latin typeface="Segoe UI" panose="020B0502040204020203" pitchFamily="34" charset="0"/>
                <a:cs typeface="Segoe UI" panose="020B0502040204020203" pitchFamily="34" charset="0"/>
              </a:rPr>
              <a:t>Windows 11 and Windows 2025 support a variety of modern authentication methods, emphasizing security and user convenience. Here's a breakdown:</a:t>
            </a:r>
          </a:p>
          <a:p>
            <a:pPr marL="0" indent="0">
              <a:buNone/>
            </a:pPr>
            <a:r>
              <a:rPr lang="en-US" sz="1800" b="1" dirty="0">
                <a:latin typeface="Segoe UI" panose="020B0502040204020203" pitchFamily="34" charset="0"/>
                <a:cs typeface="Segoe UI" panose="020B0502040204020203" pitchFamily="34" charset="0"/>
              </a:rPr>
              <a:t>Allowed Authentication Methods</a:t>
            </a:r>
          </a:p>
          <a:p>
            <a:pPr marL="342900" indent="-342900">
              <a:lnSpc>
                <a:spcPct val="120000"/>
              </a:lnSpc>
              <a:spcBef>
                <a:spcPts val="0"/>
              </a:spcBef>
              <a:buFont typeface="+mj-lt"/>
              <a:buAutoNum type="arabicPeriod"/>
            </a:pPr>
            <a:r>
              <a:rPr lang="en-US" sz="1700" dirty="0">
                <a:latin typeface="Segoe UI" panose="020B0502040204020203" pitchFamily="34" charset="0"/>
                <a:cs typeface="Segoe UI" panose="020B0502040204020203" pitchFamily="34" charset="0"/>
              </a:rPr>
              <a:t>Windows Hello:</a:t>
            </a:r>
          </a:p>
          <a:p>
            <a:pPr lvl="1">
              <a:lnSpc>
                <a:spcPct val="120000"/>
              </a:lnSpc>
              <a:spcBef>
                <a:spcPts val="0"/>
              </a:spcBef>
            </a:pPr>
            <a:r>
              <a:rPr lang="en-US" sz="1400" dirty="0">
                <a:latin typeface="Segoe UI" panose="020B0502040204020203" pitchFamily="34" charset="0"/>
                <a:cs typeface="Segoe UI" panose="020B0502040204020203" pitchFamily="34" charset="0"/>
              </a:rPr>
              <a:t>Biometric authentication (facial recognition, fingerprint scanning).</a:t>
            </a:r>
          </a:p>
          <a:p>
            <a:pPr lvl="1">
              <a:lnSpc>
                <a:spcPct val="120000"/>
              </a:lnSpc>
              <a:spcBef>
                <a:spcPts val="0"/>
              </a:spcBef>
            </a:pPr>
            <a:r>
              <a:rPr lang="en-US" sz="1400" dirty="0">
                <a:latin typeface="Segoe UI" panose="020B0502040204020203" pitchFamily="34" charset="0"/>
                <a:cs typeface="Segoe UI" panose="020B0502040204020203" pitchFamily="34" charset="0"/>
              </a:rPr>
              <a:t>PIN-based authentication, secured by the Trusted Platform Module (TPM).</a:t>
            </a:r>
          </a:p>
          <a:p>
            <a:pPr marL="342900" indent="-342900">
              <a:lnSpc>
                <a:spcPct val="120000"/>
              </a:lnSpc>
              <a:spcBef>
                <a:spcPts val="0"/>
              </a:spcBef>
              <a:buFont typeface="+mj-lt"/>
              <a:buAutoNum type="arabicPeriod"/>
            </a:pPr>
            <a:r>
              <a:rPr lang="en-US" sz="1700" dirty="0">
                <a:latin typeface="Segoe UI" panose="020B0502040204020203" pitchFamily="34" charset="0"/>
                <a:cs typeface="Segoe UI" panose="020B0502040204020203" pitchFamily="34" charset="0"/>
              </a:rPr>
              <a:t>Passwordless Sign-In:</a:t>
            </a:r>
          </a:p>
          <a:p>
            <a:pPr lvl="1">
              <a:lnSpc>
                <a:spcPct val="120000"/>
              </a:lnSpc>
              <a:spcBef>
                <a:spcPts val="0"/>
              </a:spcBef>
            </a:pPr>
            <a:r>
              <a:rPr lang="en-US" sz="1400" dirty="0">
                <a:latin typeface="Segoe UI" panose="020B0502040204020203" pitchFamily="34" charset="0"/>
                <a:cs typeface="Segoe UI" panose="020B0502040204020203" pitchFamily="34" charset="0"/>
              </a:rPr>
              <a:t>FIDO2 security keys.</a:t>
            </a:r>
          </a:p>
          <a:p>
            <a:pPr lvl="1">
              <a:lnSpc>
                <a:spcPct val="120000"/>
              </a:lnSpc>
              <a:spcBef>
                <a:spcPts val="0"/>
              </a:spcBef>
            </a:pPr>
            <a:r>
              <a:rPr lang="en-US" sz="1400" dirty="0">
                <a:latin typeface="Segoe UI" panose="020B0502040204020203" pitchFamily="34" charset="0"/>
                <a:cs typeface="Segoe UI" panose="020B0502040204020203" pitchFamily="34" charset="0"/>
              </a:rPr>
              <a:t>Passkeys and Microsoft Authenticator app.</a:t>
            </a:r>
          </a:p>
          <a:p>
            <a:pPr marL="342900" indent="-342900">
              <a:lnSpc>
                <a:spcPct val="120000"/>
              </a:lnSpc>
              <a:spcBef>
                <a:spcPts val="0"/>
              </a:spcBef>
              <a:buFont typeface="+mj-lt"/>
              <a:buAutoNum type="arabicPeriod"/>
            </a:pPr>
            <a:r>
              <a:rPr lang="en-US" sz="1700" dirty="0">
                <a:latin typeface="Segoe UI" panose="020B0502040204020203" pitchFamily="34" charset="0"/>
                <a:cs typeface="Segoe UI" panose="020B0502040204020203" pitchFamily="34" charset="0"/>
              </a:rPr>
              <a:t>Kerberos Protocol:</a:t>
            </a:r>
          </a:p>
          <a:p>
            <a:pPr lvl="1">
              <a:lnSpc>
                <a:spcPct val="120000"/>
              </a:lnSpc>
              <a:spcBef>
                <a:spcPts val="0"/>
              </a:spcBef>
            </a:pPr>
            <a:r>
              <a:rPr lang="en-US" sz="1400" dirty="0">
                <a:latin typeface="Segoe UI" panose="020B0502040204020203" pitchFamily="34" charset="0"/>
                <a:cs typeface="Segoe UI" panose="020B0502040204020203" pitchFamily="34" charset="0"/>
              </a:rPr>
              <a:t>The preferred protocol for Active Directory environments.</a:t>
            </a:r>
          </a:p>
          <a:p>
            <a:pPr marL="342900" indent="-342900">
              <a:lnSpc>
                <a:spcPct val="120000"/>
              </a:lnSpc>
              <a:spcBef>
                <a:spcPts val="0"/>
              </a:spcBef>
              <a:buFont typeface="+mj-lt"/>
              <a:buAutoNum type="arabicPeriod"/>
            </a:pPr>
            <a:r>
              <a:rPr lang="en-US" sz="1700" dirty="0">
                <a:latin typeface="Segoe UI" panose="020B0502040204020203" pitchFamily="34" charset="0"/>
                <a:cs typeface="Segoe UI" panose="020B0502040204020203" pitchFamily="34" charset="0"/>
              </a:rPr>
              <a:t>Certificate-Based Authentication (CBA):</a:t>
            </a:r>
          </a:p>
          <a:p>
            <a:pPr lvl="1">
              <a:lnSpc>
                <a:spcPct val="120000"/>
              </a:lnSpc>
              <a:spcBef>
                <a:spcPts val="0"/>
              </a:spcBef>
            </a:pPr>
            <a:r>
              <a:rPr lang="en-US" sz="1400" dirty="0">
                <a:latin typeface="Segoe UI" panose="020B0502040204020203" pitchFamily="34" charset="0"/>
                <a:cs typeface="Segoe UI" panose="020B0502040204020203" pitchFamily="34" charset="0"/>
              </a:rPr>
              <a:t>Used for secure access in enterprise settings.</a:t>
            </a:r>
          </a:p>
          <a:p>
            <a:pPr marL="342900" indent="-342900">
              <a:lnSpc>
                <a:spcPct val="120000"/>
              </a:lnSpc>
              <a:spcBef>
                <a:spcPts val="0"/>
              </a:spcBef>
              <a:buFont typeface="+mj-lt"/>
              <a:buAutoNum type="arabicPeriod"/>
            </a:pPr>
            <a:r>
              <a:rPr lang="en-US" sz="1700" dirty="0">
                <a:latin typeface="Segoe UI" panose="020B0502040204020203" pitchFamily="34" charset="0"/>
                <a:cs typeface="Segoe UI" panose="020B0502040204020203" pitchFamily="34" charset="0"/>
              </a:rPr>
              <a:t>Dynamic Lock:</a:t>
            </a:r>
          </a:p>
          <a:p>
            <a:pPr lvl="1">
              <a:lnSpc>
                <a:spcPct val="120000"/>
              </a:lnSpc>
              <a:spcBef>
                <a:spcPts val="0"/>
              </a:spcBef>
            </a:pPr>
            <a:r>
              <a:rPr lang="en-US" sz="1400" dirty="0">
                <a:latin typeface="Segoe UI" panose="020B0502040204020203" pitchFamily="34" charset="0"/>
                <a:cs typeface="Segoe UI" panose="020B0502040204020203" pitchFamily="34" charset="0"/>
              </a:rPr>
              <a:t>Automatically locks the device when paired Bluetooth devices (like a phone) move out of range.</a:t>
            </a:r>
          </a:p>
          <a:p>
            <a:pPr marL="0" indent="0">
              <a:buNone/>
            </a:pPr>
            <a:endParaRPr lang="en-US" sz="1800" dirty="0">
              <a:latin typeface="Segoe UI" panose="020B0502040204020203" pitchFamily="34" charset="0"/>
              <a:cs typeface="Segoe UI" panose="020B0502040204020203" pitchFamily="34" charset="0"/>
            </a:endParaRPr>
          </a:p>
          <a:p>
            <a:pPr marL="0" indent="0">
              <a:buNone/>
            </a:pPr>
            <a:r>
              <a:rPr lang="en-US" sz="1800" b="1" dirty="0">
                <a:latin typeface="Segoe UI" panose="020B0502040204020203" pitchFamily="34" charset="0"/>
                <a:cs typeface="Segoe UI" panose="020B0502040204020203" pitchFamily="34" charset="0"/>
              </a:rPr>
              <a:t>Deprecated or Removed Methods</a:t>
            </a:r>
          </a:p>
          <a:p>
            <a:pPr marL="342900" indent="-342900">
              <a:lnSpc>
                <a:spcPct val="120000"/>
              </a:lnSpc>
              <a:spcBef>
                <a:spcPts val="0"/>
              </a:spcBef>
              <a:buFont typeface="+mj-lt"/>
              <a:buAutoNum type="arabicPeriod"/>
            </a:pPr>
            <a:r>
              <a:rPr lang="en-US" sz="1600" dirty="0">
                <a:latin typeface="Segoe UI" panose="020B0502040204020203" pitchFamily="34" charset="0"/>
                <a:cs typeface="Segoe UI" panose="020B0502040204020203" pitchFamily="34" charset="0"/>
              </a:rPr>
              <a:t>NTLM (NT LAN Manager):</a:t>
            </a:r>
          </a:p>
          <a:p>
            <a:pPr lvl="1">
              <a:lnSpc>
                <a:spcPct val="120000"/>
              </a:lnSpc>
              <a:spcBef>
                <a:spcPts val="0"/>
              </a:spcBef>
            </a:pPr>
            <a:r>
              <a:rPr lang="en-US" sz="1400" dirty="0">
                <a:latin typeface="Segoe UI" panose="020B0502040204020203" pitchFamily="34" charset="0"/>
                <a:cs typeface="Segoe UI" panose="020B0502040204020203" pitchFamily="34" charset="0"/>
              </a:rPr>
              <a:t>NTLMv1 has been removed due to its vulnerabilities, such as susceptibility to pass-the-hash attacks. NTLMv2 is being phased out in favor of Kerberos.</a:t>
            </a:r>
          </a:p>
          <a:p>
            <a:pPr marL="342900" indent="-342900">
              <a:lnSpc>
                <a:spcPct val="120000"/>
              </a:lnSpc>
              <a:spcBef>
                <a:spcPts val="0"/>
              </a:spcBef>
              <a:buFont typeface="+mj-lt"/>
              <a:buAutoNum type="arabicPeriod"/>
            </a:pPr>
            <a:r>
              <a:rPr lang="en-US" sz="1600" dirty="0">
                <a:latin typeface="Segoe UI" panose="020B0502040204020203" pitchFamily="34" charset="0"/>
                <a:cs typeface="Segoe UI" panose="020B0502040204020203" pitchFamily="34" charset="0"/>
              </a:rPr>
              <a:t>Legacy Password-Based Authentication:</a:t>
            </a:r>
          </a:p>
          <a:p>
            <a:pPr lvl="1">
              <a:lnSpc>
                <a:spcPct val="120000"/>
              </a:lnSpc>
              <a:spcBef>
                <a:spcPts val="0"/>
              </a:spcBef>
            </a:pPr>
            <a:r>
              <a:rPr lang="en-US" sz="1400" dirty="0">
                <a:latin typeface="Segoe UI" panose="020B0502040204020203" pitchFamily="34" charset="0"/>
                <a:cs typeface="Segoe UI" panose="020B0502040204020203" pitchFamily="34" charset="0"/>
              </a:rPr>
              <a:t>While still available, passwords are being actively discouraged in favor of passwordless methods.</a:t>
            </a:r>
          </a:p>
        </p:txBody>
      </p:sp>
    </p:spTree>
    <p:extLst>
      <p:ext uri="{BB962C8B-B14F-4D97-AF65-F5344CB8AC3E}">
        <p14:creationId xmlns:p14="http://schemas.microsoft.com/office/powerpoint/2010/main" val="3159208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18C8-7482-8D41-3478-D6EDF7902FEE}"/>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Autologon</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5667EF83-5D6E-6C63-00FB-C0676DD734F0}"/>
              </a:ext>
            </a:extLst>
          </p:cNvPr>
          <p:cNvSpPr>
            <a:spLocks noGrp="1"/>
          </p:cNvSpPr>
          <p:nvPr>
            <p:ph idx="1"/>
          </p:nvPr>
        </p:nvSpPr>
        <p:spPr>
          <a:xfrm>
            <a:off x="138881" y="717755"/>
            <a:ext cx="11914238" cy="5928852"/>
          </a:xfrm>
        </p:spPr>
        <p:txBody>
          <a:bodyPr>
            <a:normAutofit/>
          </a:bodyPr>
          <a:lstStyle/>
          <a:p>
            <a:r>
              <a:rPr lang="en-US" sz="1800" dirty="0">
                <a:latin typeface="Segoe UI" panose="020B0502040204020203" pitchFamily="34" charset="0"/>
                <a:cs typeface="Segoe UI" panose="020B0502040204020203" pitchFamily="34" charset="0"/>
              </a:rPr>
              <a:t>Autologon helps you to conveniently customize the built-in Autologon mechanism for Windows. Rather than waiting for a user to enter their name and password, Windows will automatically log in to the required user using the credentials you submit with Autologon, which are encrypted in the registry. </a:t>
            </a:r>
          </a:p>
          <a:p>
            <a:r>
              <a:rPr lang="en-US" sz="1800" dirty="0">
                <a:latin typeface="Segoe UI" panose="020B0502040204020203" pitchFamily="34" charset="0"/>
                <a:cs typeface="Segoe UI" panose="020B0502040204020203" pitchFamily="34" charset="0"/>
              </a:rPr>
              <a:t>We'll try to dump the stored autologin credentials using two different tools. </a:t>
            </a:r>
          </a:p>
          <a:p>
            <a:r>
              <a:rPr lang="en-US" sz="1800" dirty="0">
                <a:latin typeface="Segoe UI" panose="020B0502040204020203" pitchFamily="34" charset="0"/>
                <a:cs typeface="Segoe UI" panose="020B0502040204020203" pitchFamily="34" charset="0"/>
              </a:rPr>
              <a:t>Let’s see the settings for autologin. First, you need to access the User Accounts Control Panel using the </a:t>
            </a:r>
            <a:r>
              <a:rPr lang="en-US" sz="1800" b="1" dirty="0">
                <a:latin typeface="Segoe UI" panose="020B0502040204020203" pitchFamily="34" charset="0"/>
                <a:cs typeface="Segoe UI" panose="020B0502040204020203" pitchFamily="34" charset="0"/>
              </a:rPr>
              <a:t>netplwiz</a:t>
            </a:r>
            <a:r>
              <a:rPr lang="en-US" sz="1800" dirty="0">
                <a:latin typeface="Segoe UI" panose="020B0502040204020203" pitchFamily="34" charset="0"/>
                <a:cs typeface="Segoe UI" panose="020B0502040204020203" pitchFamily="34" charset="0"/>
              </a:rPr>
              <a:t> command inside the run prompt. </a:t>
            </a:r>
          </a:p>
          <a:p>
            <a:r>
              <a:rPr lang="en-US" sz="1800" dirty="0">
                <a:latin typeface="Segoe UI" panose="020B0502040204020203" pitchFamily="34" charset="0"/>
                <a:cs typeface="Segoe UI" panose="020B0502040204020203" pitchFamily="34" charset="0"/>
                <a:sym typeface="Wingdings" panose="05000000000000000000" pitchFamily="2" charset="2"/>
              </a:rPr>
              <a:t> Windows + R</a:t>
            </a:r>
          </a:p>
          <a:p>
            <a:r>
              <a:rPr lang="en-US" sz="1800" dirty="0">
                <a:latin typeface="Segoe UI" panose="020B0502040204020203" pitchFamily="34" charset="0"/>
                <a:cs typeface="Segoe UI" panose="020B0502040204020203" pitchFamily="34" charset="0"/>
                <a:sym typeface="Wingdings" panose="05000000000000000000" pitchFamily="2" charset="2"/>
              </a:rPr>
              <a:t> </a:t>
            </a:r>
            <a:r>
              <a:rPr lang="en-US" sz="1800" b="1" dirty="0">
                <a:latin typeface="Segoe UI" panose="020B0502040204020203" pitchFamily="34" charset="0"/>
                <a:cs typeface="Segoe UI" panose="020B0502040204020203" pitchFamily="34" charset="0"/>
                <a:sym typeface="Wingdings" panose="05000000000000000000" pitchFamily="2" charset="2"/>
              </a:rPr>
              <a:t>netplwiz</a:t>
            </a:r>
          </a:p>
          <a:p>
            <a:r>
              <a:rPr lang="en-US" sz="1800" dirty="0">
                <a:latin typeface="Segoe UI" panose="020B0502040204020203" pitchFamily="34" charset="0"/>
                <a:cs typeface="Segoe UI" panose="020B0502040204020203" pitchFamily="34" charset="0"/>
              </a:rPr>
              <a:t>Choose the account for autologon, for example, we have selected user Raj. </a:t>
            </a:r>
          </a:p>
          <a:p>
            <a:r>
              <a:rPr lang="en-US" sz="1800" dirty="0">
                <a:latin typeface="Segoe UI" panose="020B0502040204020203" pitchFamily="34" charset="0"/>
                <a:cs typeface="Segoe UI" panose="020B0502040204020203" pitchFamily="34" charset="0"/>
              </a:rPr>
              <a:t>Enter your password once and then a second time to confirm it and uncheck the box “</a:t>
            </a:r>
            <a:r>
              <a:rPr lang="en-US" sz="1800" b="1" dirty="0">
                <a:latin typeface="Segoe UI" panose="020B0502040204020203" pitchFamily="34" charset="0"/>
                <a:cs typeface="Segoe UI" panose="020B0502040204020203" pitchFamily="34" charset="0"/>
              </a:rPr>
              <a:t>Users must enter a user name and password to use this computer”, </a:t>
            </a:r>
            <a:r>
              <a:rPr lang="en-US" sz="1800" dirty="0">
                <a:latin typeface="Segoe UI" panose="020B0502040204020203" pitchFamily="34" charset="0"/>
                <a:cs typeface="Segoe UI" panose="020B0502040204020203" pitchFamily="34" charset="0"/>
              </a:rPr>
              <a:t>then click OK. </a:t>
            </a:r>
            <a:r>
              <a:rPr lang="en-US" sz="1800" dirty="0">
                <a:highlight>
                  <a:srgbClr val="FFFF00"/>
                </a:highlight>
                <a:latin typeface="Segoe UI" panose="020B0502040204020203" pitchFamily="34" charset="0"/>
                <a:cs typeface="Segoe UI" panose="020B0502040204020203" pitchFamily="34" charset="0"/>
              </a:rPr>
              <a:t>But this option is not showing.</a:t>
            </a:r>
          </a:p>
          <a:p>
            <a:pPr marL="0" marR="0" lvl="0" indent="0">
              <a:buNone/>
              <a:tabLst>
                <a:tab pos="457200" algn="l"/>
              </a:tabLst>
            </a:pPr>
            <a:r>
              <a:rPr lang="en-IN" sz="1400" b="1" dirty="0">
                <a:effectLst/>
                <a:latin typeface="Segoe UI" panose="020B0502040204020203" pitchFamily="34" charset="0"/>
                <a:ea typeface="Times New Roman" panose="02020603050405020304" pitchFamily="18" charset="0"/>
                <a:cs typeface="Times New Roman" panose="02020603050405020304" pitchFamily="18" charset="0"/>
              </a:rPr>
              <a:t>Modify the Registry</a:t>
            </a:r>
            <a:r>
              <a:rPr lang="en-IN" sz="1400" dirty="0">
                <a:effectLst/>
                <a:latin typeface="Segoe UI" panose="020B0502040204020203" pitchFamily="34" charset="0"/>
                <a:ea typeface="Times New Roman" panose="02020603050405020304" pitchFamily="18" charset="0"/>
                <a:cs typeface="Times New Roman" panose="02020603050405020304" pitchFamily="18" charset="0"/>
              </a:rPr>
              <a:t> (Be cautious while editing the registry):</a:t>
            </a:r>
          </a:p>
          <a:p>
            <a:pPr marL="742950" marR="0" lvl="1" indent="-285750">
              <a:buSzPts val="1000"/>
              <a:buFont typeface="Courier New" panose="02070309020205020404" pitchFamily="49" charset="0"/>
              <a:buChar char="o"/>
              <a:tabLst>
                <a:tab pos="914400" algn="l"/>
              </a:tabLst>
            </a:pPr>
            <a:r>
              <a:rPr lang="en-IN" sz="1400" dirty="0">
                <a:effectLst/>
                <a:latin typeface="Segoe UI" panose="020B0502040204020203" pitchFamily="34" charset="0"/>
                <a:ea typeface="Times New Roman" panose="02020603050405020304" pitchFamily="18" charset="0"/>
                <a:cs typeface="Times New Roman" panose="02020603050405020304" pitchFamily="18" charset="0"/>
              </a:rPr>
              <a:t>Press Windows + R, type regedit, and press Enter.</a:t>
            </a:r>
          </a:p>
          <a:p>
            <a:pPr marL="742950" marR="0" lvl="1" indent="-285750">
              <a:buSzPts val="1000"/>
              <a:buFont typeface="Courier New" panose="02070309020205020404" pitchFamily="49" charset="0"/>
              <a:buChar char="o"/>
              <a:tabLst>
                <a:tab pos="914400" algn="l"/>
              </a:tabLst>
            </a:pPr>
            <a:r>
              <a:rPr lang="en-IN" sz="1400" dirty="0">
                <a:effectLst/>
                <a:latin typeface="Segoe UI" panose="020B0502040204020203" pitchFamily="34" charset="0"/>
                <a:ea typeface="Times New Roman" panose="02020603050405020304" pitchFamily="18" charset="0"/>
                <a:cs typeface="Times New Roman" panose="02020603050405020304" pitchFamily="18" charset="0"/>
              </a:rPr>
              <a:t>Navigate to: HKEY_LOCAL_MACHINE\SOFTWARE\Microsoft\Windows NT\CurrentVersion\PasswordLess\Device.</a:t>
            </a:r>
          </a:p>
          <a:p>
            <a:pPr marL="742950" marR="0" lvl="1" indent="-285750">
              <a:buSzPts val="1000"/>
              <a:buFont typeface="Courier New" panose="02070309020205020404" pitchFamily="49" charset="0"/>
              <a:buChar char="o"/>
              <a:tabLst>
                <a:tab pos="914400" algn="l"/>
              </a:tabLst>
            </a:pPr>
            <a:r>
              <a:rPr lang="en-IN" sz="1400" dirty="0">
                <a:effectLst/>
                <a:latin typeface="Segoe UI" panose="020B0502040204020203" pitchFamily="34" charset="0"/>
                <a:ea typeface="Times New Roman" panose="02020603050405020304" pitchFamily="18" charset="0"/>
                <a:cs typeface="Times New Roman" panose="02020603050405020304" pitchFamily="18" charset="0"/>
              </a:rPr>
              <a:t>Double-click on DevicePasswordLessBuildVersion and set its value to 0.</a:t>
            </a:r>
          </a:p>
          <a:p>
            <a:pPr>
              <a:buNone/>
            </a:pPr>
            <a:r>
              <a:rPr lang="en-IN" sz="1400" kern="0" dirty="0">
                <a:effectLst/>
                <a:latin typeface="Segoe UI" panose="020B0502040204020203" pitchFamily="34" charset="0"/>
                <a:ea typeface="Times New Roman" panose="02020603050405020304" pitchFamily="18" charset="0"/>
                <a:cs typeface="Times New Roman" panose="02020603050405020304" pitchFamily="18" charset="0"/>
              </a:rPr>
              <a:t>Restart your computer and check if the option is now available in netplwiz</a:t>
            </a:r>
          </a:p>
          <a:p>
            <a:pPr>
              <a:buNone/>
            </a:pPr>
            <a:r>
              <a:rPr lang="en-IN" sz="1400" kern="0" dirty="0">
                <a:latin typeface="Segoe UI" panose="020B0502040204020203" pitchFamily="34" charset="0"/>
                <a:cs typeface="Times New Roman" panose="02020603050405020304" pitchFamily="18" charset="0"/>
              </a:rPr>
              <a:t>Now try again</a:t>
            </a:r>
            <a:endParaRPr lang="en-IN"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87142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0BE94-E629-7A37-66C7-4F19B0643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3AC45-C2DF-20FE-0D74-D828B7CF317D}"/>
              </a:ext>
            </a:extLst>
          </p:cNvPr>
          <p:cNvSpPr>
            <a:spLocks noGrp="1"/>
          </p:cNvSpPr>
          <p:nvPr>
            <p:ph type="title"/>
          </p:nvPr>
        </p:nvSpPr>
        <p:spPr>
          <a:xfrm>
            <a:off x="130276" y="119318"/>
            <a:ext cx="11914239" cy="519779"/>
          </a:xfrm>
        </p:spPr>
        <p:txBody>
          <a:bodyPr>
            <a:noAutofit/>
          </a:bodyPr>
          <a:lstStyle/>
          <a:p>
            <a:r>
              <a:rPr lang="en-US" sz="2400" b="1" dirty="0">
                <a:latin typeface="Segoe UI" panose="020B0502040204020203" pitchFamily="34" charset="0"/>
                <a:cs typeface="Segoe UI" panose="020B0502040204020203" pitchFamily="34" charset="0"/>
              </a:rPr>
              <a:t>Autologon password recovery with “Nirsoft Network Password Recovery:</a:t>
            </a:r>
            <a:endParaRPr lang="en-IN" sz="24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72CBFCD-806E-8C06-13C5-9E509562C624}"/>
              </a:ext>
            </a:extLst>
          </p:cNvPr>
          <p:cNvSpPr>
            <a:spLocks noGrp="1"/>
          </p:cNvSpPr>
          <p:nvPr>
            <p:ph idx="1"/>
          </p:nvPr>
        </p:nvSpPr>
        <p:spPr>
          <a:xfrm>
            <a:off x="130276" y="737419"/>
            <a:ext cx="11914238" cy="5928852"/>
          </a:xfrm>
        </p:spPr>
        <p:txBody>
          <a:bodyPr>
            <a:normAutofit/>
          </a:bodyPr>
          <a:lstStyle/>
          <a:p>
            <a:pPr marL="0" indent="0">
              <a:buNone/>
            </a:pPr>
            <a:r>
              <a:rPr lang="en-US" sz="1800" dirty="0">
                <a:latin typeface="Segoe UI" panose="020B0502040204020203" pitchFamily="34" charset="0"/>
                <a:cs typeface="Segoe UI" panose="020B0502040204020203" pitchFamily="34" charset="0"/>
              </a:rPr>
              <a:t>Network Password Recovery is very easy to use, install and run the tool on the local machine whose </a:t>
            </a:r>
          </a:p>
          <a:p>
            <a:pPr marL="0" indent="0">
              <a:buNone/>
            </a:pPr>
            <a:r>
              <a:rPr lang="en-US" sz="1800" dirty="0">
                <a:latin typeface="Segoe UI" panose="020B0502040204020203" pitchFamily="34" charset="0"/>
                <a:cs typeface="Segoe UI" panose="020B0502040204020203" pitchFamily="34" charset="0"/>
              </a:rPr>
              <a:t>password you chose to extract. It will dump the stored credential for the autologon account. </a:t>
            </a:r>
          </a:p>
          <a:p>
            <a:r>
              <a:rPr lang="en-US" sz="1800" dirty="0">
                <a:latin typeface="Segoe UI" panose="020B0502040204020203" pitchFamily="34" charset="0"/>
                <a:cs typeface="Segoe UI" panose="020B0502040204020203" pitchFamily="34" charset="0"/>
              </a:rPr>
              <a:t>Download from: </a:t>
            </a:r>
            <a:r>
              <a:rPr lang="en-US" sz="1800" dirty="0">
                <a:latin typeface="Segoe UI" panose="020B0502040204020203" pitchFamily="34" charset="0"/>
                <a:cs typeface="Segoe UI" panose="020B0502040204020203" pitchFamily="34" charset="0"/>
                <a:hlinkClick r:id="rId2"/>
              </a:rPr>
              <a:t>https://www.nirsoft.net/utils/network_password_recovery.html</a:t>
            </a:r>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Install it</a:t>
            </a: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r>
              <a:rPr lang="en-US" sz="1800" dirty="0">
                <a:highlight>
                  <a:srgbClr val="FFFF00"/>
                </a:highlight>
                <a:latin typeface="Segoe UI" panose="020B0502040204020203" pitchFamily="34" charset="0"/>
                <a:cs typeface="Segoe UI" panose="020B0502040204020203" pitchFamily="34" charset="0"/>
              </a:rPr>
              <a:t>Microsoft Defender Antivirus (SmartScreen) had not raised alert for this tool.</a:t>
            </a:r>
          </a:p>
          <a:p>
            <a:pPr marL="0" indent="0">
              <a:buNone/>
            </a:pPr>
            <a:endParaRPr lang="en-US" sz="1800" dirty="0">
              <a:latin typeface="Segoe UI" panose="020B0502040204020203" pitchFamily="34" charset="0"/>
              <a:cs typeface="Segoe UI" panose="020B0502040204020203" pitchFamily="34" charset="0"/>
            </a:endParaRPr>
          </a:p>
          <a:p>
            <a:pPr marL="0" indent="0">
              <a:buNone/>
            </a:pPr>
            <a:r>
              <a:rPr lang="en-IN" sz="1800" b="1" dirty="0">
                <a:latin typeface="Segoe UI" panose="020B0502040204020203" pitchFamily="34" charset="0"/>
                <a:cs typeface="Segoe UI" panose="020B0502040204020203" pitchFamily="34" charset="0"/>
              </a:rPr>
              <a:t>Another methods to recover autologon password such as DecryptAutologon.exe, </a:t>
            </a:r>
          </a:p>
          <a:p>
            <a:pPr marL="0" indent="0">
              <a:buNone/>
            </a:pPr>
            <a:endParaRPr lang="en-IN" sz="1800" dirty="0">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63DFE71A-0279-2433-FFC5-2133747D003E}"/>
              </a:ext>
            </a:extLst>
          </p:cNvPr>
          <p:cNvPicPr>
            <a:picLocks noChangeAspect="1"/>
          </p:cNvPicPr>
          <p:nvPr/>
        </p:nvPicPr>
        <p:blipFill>
          <a:blip r:embed="rId3"/>
          <a:stretch>
            <a:fillRect/>
          </a:stretch>
        </p:blipFill>
        <p:spPr>
          <a:xfrm>
            <a:off x="548159" y="2731709"/>
            <a:ext cx="11095682" cy="1394581"/>
          </a:xfrm>
          <a:prstGeom prst="rect">
            <a:avLst/>
          </a:prstGeom>
        </p:spPr>
      </p:pic>
    </p:spTree>
    <p:extLst>
      <p:ext uri="{BB962C8B-B14F-4D97-AF65-F5344CB8AC3E}">
        <p14:creationId xmlns:p14="http://schemas.microsoft.com/office/powerpoint/2010/main" val="296754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02AE-3A5F-33DB-987C-15A1F3592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5697D-192C-B491-03E1-512286DA348F}"/>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Security Support Provider API</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C8767E7E-C69C-A87A-C1AE-35D25E47FB6C}"/>
              </a:ext>
            </a:extLst>
          </p:cNvPr>
          <p:cNvSpPr>
            <a:spLocks noGrp="1"/>
          </p:cNvSpPr>
          <p:nvPr>
            <p:ph idx="1"/>
          </p:nvPr>
        </p:nvSpPr>
        <p:spPr>
          <a:xfrm>
            <a:off x="130276" y="737419"/>
            <a:ext cx="11914238" cy="5928852"/>
          </a:xfrm>
        </p:spPr>
        <p:txBody>
          <a:bodyPr>
            <a:normAutofit/>
          </a:bodyPr>
          <a:lstStyle/>
          <a:p>
            <a:r>
              <a:rPr lang="en-US" sz="1800" dirty="0">
                <a:latin typeface="Segoe UI" panose="020B0502040204020203" pitchFamily="34" charset="0"/>
                <a:cs typeface="Segoe UI" panose="020B0502040204020203" pitchFamily="34" charset="0"/>
              </a:rPr>
              <a:t>Security Support Provider (SSP) is an API used by Windows to carry out authentication for Windows Login. It's a DLL file that provides security packages to other applications. This DLL stacks itself up in LSA when the system starts, making it a start-up process. After it is loaded into LSA, it can access all of the window’s credentials. </a:t>
            </a:r>
          </a:p>
          <a:p>
            <a:r>
              <a:rPr lang="en-US" sz="1800" dirty="0">
                <a:latin typeface="Segoe UI" panose="020B0502040204020203" pitchFamily="34" charset="0"/>
                <a:cs typeface="Segoe UI" panose="020B0502040204020203" pitchFamily="34" charset="0"/>
              </a:rPr>
              <a:t>Attackers exploit Security Support Providers (SSPs) in Windows by injecting malicious SSP DLLs into the Local Security Authority (LSA) process. This allows them to access encrypted and plaintext passwords stored in Windows, such as domain passwords or smart card PINs</a:t>
            </a:r>
          </a:p>
          <a:p>
            <a:r>
              <a:rPr lang="en-US" sz="1800" dirty="0">
                <a:latin typeface="Segoe UI" panose="020B0502040204020203" pitchFamily="34" charset="0"/>
                <a:cs typeface="Segoe UI" panose="020B0502040204020203" pitchFamily="34" charset="0"/>
              </a:rPr>
              <a:t>Prevention: Enable LSA protection in Device security section of Microsoft Defender Antivirus.</a:t>
            </a:r>
          </a:p>
          <a:p>
            <a:r>
              <a:rPr lang="en-US" sz="1800" dirty="0">
                <a:latin typeface="Segoe UI" panose="020B0502040204020203" pitchFamily="34" charset="0"/>
                <a:cs typeface="Segoe UI" panose="020B0502040204020203" pitchFamily="34" charset="0"/>
              </a:rPr>
              <a:t> Tools like </a:t>
            </a:r>
            <a:r>
              <a:rPr lang="en-US" sz="1800" b="1" dirty="0">
                <a:latin typeface="Segoe UI" panose="020B0502040204020203" pitchFamily="34" charset="0"/>
                <a:cs typeface="Segoe UI" panose="020B0502040204020203" pitchFamily="34" charset="0"/>
              </a:rPr>
              <a:t>Mimikatz</a:t>
            </a:r>
            <a:r>
              <a:rPr lang="en-US" sz="1800" dirty="0">
                <a:latin typeface="Segoe UI" panose="020B0502040204020203" pitchFamily="34" charset="0"/>
                <a:cs typeface="Segoe UI" panose="020B0502040204020203" pitchFamily="34" charset="0"/>
              </a:rPr>
              <a:t> are often used to register malicious SSP DLLs, enabling attackers to dump credentials.</a:t>
            </a:r>
          </a:p>
          <a:p>
            <a:r>
              <a:rPr lang="en-US" sz="1800" b="1" dirty="0">
                <a:latin typeface="Segoe UI" panose="020B0502040204020203" pitchFamily="34" charset="0"/>
                <a:cs typeface="Segoe UI" panose="020B0502040204020203" pitchFamily="34" charset="0"/>
              </a:rPr>
              <a:t>Method-1</a:t>
            </a:r>
            <a:r>
              <a:rPr lang="en-US" sz="1800" dirty="0">
                <a:latin typeface="Segoe UI" panose="020B0502040204020203" pitchFamily="34" charset="0"/>
                <a:cs typeface="Segoe UI" panose="020B0502040204020203" pitchFamily="34" charset="0"/>
              </a:rPr>
              <a:t>: The first method that we are going to use to exploit SSP is manual. Once the method is successfully carried out and the system reboots itself, it will dump the credentials for us. These credentials can be found in a file that will be created upon user login with the name of kiwissp. This file can be found in the registry inside hklm\system\currentcontrolset\control\lsa. The first step in this method is to copy the mimilib.dll file from the mimikatz folder to the system32 folder. This file is responsible for creating the kiwissp file which stores credentials in plaintext for us. </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8003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1B2D-7347-4A63-7542-2C7A57CE8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6478C-1AC8-FEB0-1AD0-C9E52BA2EEDD}"/>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A06679CC-A4D1-A617-80CF-7256E92162C7}"/>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784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4547D-3FC2-535A-BDCD-996469A31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D74B5-FCCF-708D-0CEE-20EDE4B90B7C}"/>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04B87236-46A5-E919-736A-1F105CEC7076}"/>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57852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25F5-7ECD-EC4B-9437-80633DFEB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733D4-9276-FD29-8E15-244EE089C2E9}"/>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F2B6CDED-3C6B-DF7F-897F-BC2B8D8CDF59}"/>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11434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3DB26-8BFD-B5B9-45C8-292701E1F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2A8ED-0B63-E3A1-B558-C03BE36CD1F5}"/>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674A80FF-6B77-BAD0-59C1-75DE917DE1F7}"/>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69453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3FDF0-BFF3-8EA0-0CDF-F39311FA4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06BFE-2011-3669-01E8-052ABB7D83AB}"/>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AB929E1-7F4C-A114-0680-8475A57FADA0}"/>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6989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05A10-ED2C-FF00-6A54-48F1C3DFE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F64F1-915D-02DC-6C94-3C7765173FDA}"/>
              </a:ext>
            </a:extLst>
          </p:cNvPr>
          <p:cNvSpPr>
            <a:spLocks noGrp="1"/>
          </p:cNvSpPr>
          <p:nvPr>
            <p:ph type="title"/>
          </p:nvPr>
        </p:nvSpPr>
        <p:spPr>
          <a:xfrm>
            <a:off x="130276" y="119318"/>
            <a:ext cx="11914239" cy="519779"/>
          </a:xfrm>
        </p:spPr>
        <p:txBody>
          <a:bodyPr>
            <a:noAutofit/>
          </a:bodyPr>
          <a:lstStyle/>
          <a:p>
            <a:r>
              <a:rPr lang="en-US" sz="2800" b="1" dirty="0">
                <a:latin typeface="Segoe UI" panose="020B0502040204020203" pitchFamily="34" charset="0"/>
                <a:cs typeface="Segoe UI" panose="020B0502040204020203" pitchFamily="34" charset="0"/>
              </a:rPr>
              <a:t>Title</a:t>
            </a:r>
            <a:endParaRPr lang="en-IN" sz="28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C580BC1F-7AD0-6B31-CE9A-CE5D99B5BAE6}"/>
              </a:ext>
            </a:extLst>
          </p:cNvPr>
          <p:cNvSpPr>
            <a:spLocks noGrp="1"/>
          </p:cNvSpPr>
          <p:nvPr>
            <p:ph idx="1"/>
          </p:nvPr>
        </p:nvSpPr>
        <p:spPr>
          <a:xfrm>
            <a:off x="130276" y="737419"/>
            <a:ext cx="11914238" cy="5928852"/>
          </a:xfrm>
        </p:spPr>
        <p:txBody>
          <a:bodyPr>
            <a:normAutofit/>
          </a:bodyPr>
          <a:lstStyle/>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56717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763</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Courier New</vt:lpstr>
      <vt:lpstr>Segoe UI</vt:lpstr>
      <vt:lpstr>Office Theme</vt:lpstr>
      <vt:lpstr>Windows</vt:lpstr>
      <vt:lpstr>Authentication Methods in Win11 and Win2025</vt:lpstr>
      <vt:lpstr>Autologon</vt:lpstr>
      <vt:lpstr>Autologon password recovery with “Nirsoft Network Password Recovery:</vt:lpstr>
      <vt:lpstr>Security Support Provider API</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polaris</dc:creator>
  <cp:lastModifiedBy>polaris</cp:lastModifiedBy>
  <cp:revision>25</cp:revision>
  <dcterms:created xsi:type="dcterms:W3CDTF">2025-04-02T03:37:05Z</dcterms:created>
  <dcterms:modified xsi:type="dcterms:W3CDTF">2025-04-02T14:33:58Z</dcterms:modified>
</cp:coreProperties>
</file>